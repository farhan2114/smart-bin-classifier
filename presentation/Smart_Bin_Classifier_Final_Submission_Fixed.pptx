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8" r:id="rId19"/>
    <p:sldId id="269" r:id="rId20"/>
    <p:sldId id="258" r:id="rId9"/>
    <p:sldId id="259" r:id="rId10"/>
    <p:sldId id="270" r:id="rId21"/>
    <p:sldId id="260" r:id="rId11"/>
    <p:sldId id="261" r:id="rId12"/>
    <p:sldId id="267" r:id="rId18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7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3672" cy="164592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64592"/>
            <a:ext cx="3502152" cy="118872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283464"/>
            <a:ext cx="2770632" cy="109728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85800"/>
            <a:ext cx="5943600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237764"/>
                </a:solidFill>
                <a:latin typeface="Aptos"/>
              </a:defRPr>
            </a:pPr>
            <a:r>
              <a:t>COMPUTER VISION  / 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400800" cy="15087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4300" b="1">
                <a:solidFill>
                  <a:srgbClr val="263331"/>
                </a:solidFill>
                <a:latin typeface="Aptos Display"/>
              </a:defRPr>
            </a:pPr>
            <a:r>
              <a:t>Smart Bin</a:t>
            </a:r>
            <a:br/>
            <a:r>
              <a:t>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5760720" cy="8229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900" b="0">
                <a:solidFill>
                  <a:srgbClr val="5B6965"/>
                </a:solidFill>
                <a:latin typeface="Aptos"/>
              </a:defRPr>
            </a:pPr>
            <a:r>
              <a:t>From a bin photograph to a product-level quantity estimate and an order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50208"/>
            <a:ext cx="5669280" cy="3657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600" b="1">
                <a:solidFill>
                  <a:srgbClr val="237764"/>
                </a:solidFill>
                <a:latin typeface="Aptos"/>
              </a:defRPr>
            </a:pPr>
            <a:r>
              <a:t>Prepared by Farhan Mohammed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462272"/>
            <a:ext cx="5715000" cy="8686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500" b="0">
                <a:solidFill>
                  <a:srgbClr val="263331"/>
                </a:solidFill>
                <a:latin typeface="Aptos"/>
              </a:defRPr>
            </a:pPr>
            <a:r>
              <a:t>A working Streamlit prototype for 10 catalogue products, evaluated on 200 held-out test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024128"/>
            <a:ext cx="4572000" cy="4480560"/>
          </a:xfrm>
          <a:prstGeom prst="roundRect">
            <a:avLst/>
          </a:prstGeom>
          <a:solidFill>
            <a:srgbClr val="DAEDE3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389888"/>
            <a:ext cx="3840480" cy="3657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237764"/>
                </a:solidFill>
                <a:latin typeface="Aptos"/>
              </a:defRPr>
            </a:pPr>
            <a:r>
              <a:t>TEST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1847088"/>
            <a:ext cx="3886200" cy="7498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4300" b="1">
                <a:solidFill>
                  <a:srgbClr val="237764"/>
                </a:solidFill>
                <a:latin typeface="Aptos Display"/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606040"/>
            <a:ext cx="3749039" cy="5486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500" b="0">
                <a:solidFill>
                  <a:srgbClr val="263331"/>
                </a:solidFill>
                <a:latin typeface="Aptos"/>
              </a:defRPr>
            </a:pPr>
            <a:r>
              <a:t>of images had all 10 quantities exactly 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3429000"/>
            <a:ext cx="1874519" cy="12344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3611880"/>
            <a:ext cx="169164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100" b="1">
                <a:solidFill>
                  <a:srgbClr val="CB6353"/>
                </a:solidFill>
                <a:latin typeface="Aptos Display"/>
              </a:defRPr>
            </a:pPr>
            <a:r>
              <a:t>27.18%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4069080"/>
            <a:ext cx="164592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0">
                <a:solidFill>
                  <a:srgbClr val="5B6965"/>
                </a:solidFill>
                <a:latin typeface="Aptos"/>
              </a:defRPr>
            </a:pPr>
            <a:r>
              <a:t>Exact accuracy on present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08592" y="3429000"/>
            <a:ext cx="1874519" cy="12344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611880"/>
            <a:ext cx="169164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100" b="1">
                <a:solidFill>
                  <a:srgbClr val="4C779D"/>
                </a:solidFill>
                <a:latin typeface="Aptos Display"/>
              </a:defRPr>
            </a:pPr>
            <a:r>
              <a:t>0.0565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4069080"/>
            <a:ext cx="164592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0">
                <a:solidFill>
                  <a:srgbClr val="5B6965"/>
                </a:solidFill>
                <a:latin typeface="Aptos"/>
              </a:defRPr>
            </a:pPr>
            <a:r>
              <a:t>MAE across all product entries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9320"/>
            <a:ext cx="1069848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ResNet-18  •  PyTorch  •  Streamlit  •  Prototype deployed using free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CB6353"/>
                </a:solidFill>
                <a:latin typeface="Aptos"/>
              </a:defRPr>
            </a:pPr>
            <a:r>
              <a:t>02 · SCOPE &amp;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What counts as a correct order?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The final decision is based on the model's predictions, not hidden ground-truth labels.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92224"/>
            <a:ext cx="64008" cy="1773936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65376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Order is the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40864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Only products included in the customer's order are checked. Items outside the order are irrelevant.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19072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792224"/>
            <a:ext cx="64008" cy="1773936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65376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B6353"/>
                </a:solidFill>
                <a:latin typeface="Aptos Display"/>
              </a:defRPr>
            </a:pPr>
            <a:r>
              <a:t>Every requested item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40864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PASS only when each requested product is predicted to have enough quantity. One missing or under-counted item means FAIL.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19072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792224"/>
            <a:ext cx="64008" cy="1773936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79436"/>
                </a:solidFill>
                <a:latin typeface="Aptos Display"/>
              </a:defRPr>
            </a:pPr>
            <a:r>
              <a:t>Extra items are ignored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40864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A product predicted in the bin but not included in the order does not affect the result.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4005072"/>
            <a:ext cx="10927080" cy="1170432"/>
          </a:xfrm>
          <a:prstGeom prst="roundRect">
            <a:avLst/>
          </a:prstGeom>
          <a:solidFill>
            <a:srgbClr val="E1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1042416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600" b="1">
                <a:solidFill>
                  <a:srgbClr val="4C779D"/>
                </a:solidFill>
                <a:latin typeface="Aptos Display"/>
              </a:defRPr>
            </a:pPr>
            <a:r>
              <a:t>Clarifications received and implementation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45152"/>
            <a:ext cx="103784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263331"/>
                </a:solidFill>
                <a:latin typeface="Aptos"/>
              </a:defRPr>
            </a:pPr>
            <a:r>
              <a:t>Catalogue: exclude products below the required frequency threshold. Blind evaluation: use reserved blind-split images only; never train, tune, or validate on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Ground-truth labels may construct/evaluate test cases, but the app's inference and PASS/FAIL logic must use model predictions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237764"/>
                </a:solidFill>
                <a:latin typeface="Aptos"/>
              </a:defRPr>
            </a:pPr>
            <a:r>
              <a:t>03 · PROJECT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72 hours, from data to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64208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92224"/>
            <a:ext cx="1143000" cy="320040"/>
          </a:xfrm>
          <a:prstGeom prst="roundRect">
            <a:avLst/>
          </a:prstGeom>
          <a:solidFill>
            <a:srgbClr val="DA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42516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237764"/>
                </a:solidFill>
                <a:latin typeface="Aptos"/>
              </a:defRPr>
            </a:pPr>
            <a:r>
              <a:t>HOURS 0–12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94560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Scope &amp;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96896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Read the brief, define order PASS/FAIL, catalogue threshold, evaluation split rules and free-tool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64208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792224"/>
            <a:ext cx="1143000" cy="320040"/>
          </a:xfrm>
          <a:prstGeom prst="roundRect">
            <a:avLst/>
          </a:prstGeom>
          <a:solidFill>
            <a:srgbClr val="E1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42516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4C779D"/>
                </a:solidFill>
                <a:latin typeface="Aptos"/>
              </a:defRPr>
            </a:pPr>
            <a:r>
              <a:t>HOURS 12–24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4C779D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96896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Inspect catalogue and labels, verify train/validation/test/blind splits, set up preprocessing and training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664208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76488" y="1792224"/>
            <a:ext cx="1143000" cy="320040"/>
          </a:xfrm>
          <a:prstGeom prst="roundRect">
            <a:avLst/>
          </a:prstGeom>
          <a:solidFill>
            <a:srgbClr val="F9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3" y="1842516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79436"/>
                </a:solidFill>
                <a:latin typeface="Aptos"/>
              </a:defRPr>
            </a:pPr>
            <a:r>
              <a:t>HOURS 24–40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194560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79436"/>
                </a:solidFill>
                <a:latin typeface="Aptos Display"/>
              </a:defRPr>
            </a:pPr>
            <a:r>
              <a:t>Model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596896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Train/refine ResNet-18 quantity model; review validation behavior, count imbalance and signs of overfitting.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39312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3767328"/>
            <a:ext cx="1143000" cy="320040"/>
          </a:xfrm>
          <a:prstGeom prst="roundRect">
            <a:avLst/>
          </a:prstGeom>
          <a:solidFill>
            <a:srgbClr val="F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817620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B6353"/>
                </a:solidFill>
                <a:latin typeface="Aptos"/>
              </a:defRPr>
            </a:pPr>
            <a:r>
              <a:t>HOURS 40–52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169664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B6353"/>
                </a:solidFill>
                <a:latin typeface="Aptos Display"/>
              </a:defRPr>
            </a:pPr>
            <a:r>
              <a:t>Metric debugging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572000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Reconcile evaluation metrics; separate whole-vector exact match from present-item accuracy and compare evaluation protocols.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639312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17720" y="3767328"/>
            <a:ext cx="1143000" cy="320040"/>
          </a:xfrm>
          <a:prstGeom prst="roundRect">
            <a:avLst/>
          </a:prstGeom>
          <a:solidFill>
            <a:srgbClr val="DA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3817620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237764"/>
                </a:solidFill>
                <a:latin typeface="Aptos"/>
              </a:defRPr>
            </a:pPr>
            <a:r>
              <a:t>HOURS 52–64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169664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Build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572000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Connect inference to Streamlit; add image upload, readable names, quantity inputs, order validation and downloadable results.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1896" y="3639312"/>
            <a:ext cx="3547872" cy="1682496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76488" y="3767328"/>
            <a:ext cx="1143000" cy="320040"/>
          </a:xfrm>
          <a:prstGeom prst="roundRect">
            <a:avLst/>
          </a:prstGeom>
          <a:solidFill>
            <a:srgbClr val="ED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3063" y="3817620"/>
            <a:ext cx="10698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917EAD"/>
                </a:solidFill>
                <a:latin typeface="Aptos"/>
              </a:defRPr>
            </a:pPr>
            <a:r>
              <a:t>HOURS 64–72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4169664"/>
            <a:ext cx="32004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917EAD"/>
                </a:solidFill>
                <a:latin typeface="Aptos Display"/>
              </a:defRPr>
            </a:pPr>
            <a:r>
              <a:t>Test &amp; submit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572000"/>
            <a:ext cx="320040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263331"/>
                </a:solidFill>
                <a:latin typeface="Aptos"/>
              </a:defRPr>
            </a:pPr>
            <a:r>
              <a:t>Test PASS/FAIL cases, fix hosted-app issues, polish README and deck, document limitations and free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182880"/>
            <a:ext cx="10881360" cy="201168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000" b="1">
                <a:solidFill>
                  <a:srgbClr val="4C779D"/>
                </a:solidFill>
                <a:latin typeface="Aptos"/>
              </a:defRPr>
            </a:pPr>
            <a:r>
              <a:t>04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1064240" cy="512064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2800" b="1">
                <a:solidFill>
                  <a:srgbClr val="263331"/>
                </a:solidFill>
                <a:latin typeface="Aptos Display"/>
              </a:defRPr>
            </a:pPr>
            <a:r>
              <a:t>What went into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14984"/>
            <a:ext cx="713232" cy="45720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200" b="0">
                <a:solidFill>
                  <a:srgbClr val="5B6965"/>
                </a:solidFill>
                <a:latin typeface="Aptos"/>
              </a:defRPr>
            </a:pPr>
            <a:r>
              <a:t>The project uses a 2,000-image subset with a fixed 10-product catalogue.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4937760" cy="274320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600" b="1">
                <a:solidFill>
                  <a:srgbClr val="237764"/>
                </a:solidFill>
                <a:latin typeface="Aptos Display"/>
              </a:defRPr>
            </a:pPr>
            <a:r>
              <a:t>Dataset split · 2,000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3328416" cy="475488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05656" y="1874519"/>
            <a:ext cx="475488" cy="475488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81144" y="1874519"/>
            <a:ext cx="475488" cy="475488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6631" y="1874519"/>
            <a:ext cx="475488" cy="475488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33172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1">
                <a:solidFill>
                  <a:srgbClr val="237764"/>
                </a:solidFill>
                <a:latin typeface="Aptos"/>
              </a:defRPr>
            </a:pPr>
            <a:r>
              <a:t>Train · 1,400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487168"/>
            <a:ext cx="233172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1">
                <a:solidFill>
                  <a:srgbClr val="4C779D"/>
                </a:solidFill>
                <a:latin typeface="Aptos"/>
              </a:defRPr>
            </a:pPr>
            <a:r>
              <a:t>Validation ·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871216"/>
            <a:ext cx="233172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1">
                <a:solidFill>
                  <a:srgbClr val="C79436"/>
                </a:solidFill>
                <a:latin typeface="Aptos"/>
              </a:defRPr>
            </a:pPr>
            <a:r>
              <a:t>Test ·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871216"/>
            <a:ext cx="233172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1">
                <a:solidFill>
                  <a:srgbClr val="CB6353"/>
                </a:solidFill>
                <a:latin typeface="Aptos"/>
              </a:defRPr>
            </a:pPr>
            <a:r>
              <a:t>Blind · 200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29000"/>
            <a:ext cx="4892040" cy="102412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502152"/>
            <a:ext cx="54864" cy="877824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520440"/>
            <a:ext cx="4599431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500" b="1">
                <a:solidFill>
                  <a:srgbClr val="C79436"/>
                </a:solidFill>
                <a:latin typeface="Aptos Display"/>
              </a:defRPr>
            </a:pPr>
            <a:r>
              <a:t>Quantity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13632"/>
            <a:ext cx="4599431" cy="457200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Six output classes per product: quantities 0 through 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590288"/>
            <a:ext cx="4892040" cy="102412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663440"/>
            <a:ext cx="54864" cy="877824"/>
          </a:xfrm>
          <a:prstGeom prst="rect">
            <a:avLst/>
          </a:prstGeom>
          <a:solidFill>
            <a:srgbClr val="91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681727"/>
            <a:ext cx="4599431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500" b="1">
                <a:solidFill>
                  <a:srgbClr val="917EAD"/>
                </a:solidFill>
                <a:latin typeface="Aptos Display"/>
              </a:defRPr>
            </a:pPr>
            <a:r>
              <a:t>Catalogue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74920"/>
            <a:ext cx="4599431" cy="457200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The model predicts quantities for 10 selected ASINs.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25312" y="1600200"/>
            <a:ext cx="2542032" cy="117043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25312" y="1673352"/>
            <a:ext cx="54864" cy="1024128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1691640"/>
            <a:ext cx="2249424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10 ASINs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2084832"/>
            <a:ext cx="2249424" cy="603504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Selected product catalogue.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1600200"/>
            <a:ext cx="2542032" cy="117043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32520" y="1673352"/>
            <a:ext cx="54864" cy="1024128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7112" y="1691640"/>
            <a:ext cx="2249424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700" b="1">
                <a:solidFill>
                  <a:srgbClr val="4C779D"/>
                </a:solidFill>
                <a:latin typeface="Aptos Display"/>
              </a:defRPr>
            </a:pPr>
            <a:r>
              <a:t>0–5 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2084832"/>
            <a:ext cx="2249424" cy="603504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Six quantity classes per product.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25312" y="2999232"/>
            <a:ext cx="5349240" cy="109728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25312" y="3072384"/>
            <a:ext cx="54864" cy="950976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3090672"/>
            <a:ext cx="5056631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500" b="1">
                <a:solidFill>
                  <a:srgbClr val="C79436"/>
                </a:solidFill>
                <a:latin typeface="Aptos Display"/>
              </a:defRPr>
            </a:pPr>
            <a:r>
              <a:t>Label pattern · Many zeros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3483863"/>
            <a:ext cx="5056631" cy="53035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Many zero entries can make overall MAE appear low.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25312" y="4279392"/>
            <a:ext cx="5349240" cy="109728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25312" y="4352544"/>
            <a:ext cx="54864" cy="950976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4370831"/>
            <a:ext cx="5056631" cy="34747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500" b="1">
                <a:solidFill>
                  <a:srgbClr val="CB6353"/>
                </a:solidFill>
                <a:latin typeface="Aptos Display"/>
              </a:defRPr>
            </a:pPr>
            <a:r>
              <a:t>Quantity coverage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4764024"/>
            <a:ext cx="5056631" cy="53035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100" b="0">
                <a:solidFill>
                  <a:srgbClr val="263331"/>
                </a:solidFill>
                <a:latin typeface="Aptos"/>
              </a:defRPr>
            </a:pPr>
            <a:r>
              <a:t>Rare higher-count classes may need additional examples.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925312"/>
            <a:ext cx="10698480" cy="256032"/>
          </a:xfrm>
          <a:prstGeom prst="rect">
            <a:avLst/>
          </a:prstGeom>
          <a:noFill/>
        </p:spPr>
        <p:txBody>
          <a:bodyPr wrap="square" lIns="45720" rIns="45720" tIns="22860" bIns="18288" anchor="ctr">
            <a:spAutoFit/>
          </a:bodyPr>
          <a:lstStyle/>
          <a:p>
            <a:pPr>
              <a:defRPr sz="1000" b="0">
                <a:solidFill>
                  <a:srgbClr val="5B6965"/>
                </a:solidFill>
                <a:latin typeface="Aptos"/>
              </a:defRPr>
            </a:pPr>
            <a:r>
              <a:t>Dataset split is kept separate for training, validation, test evaluation and blind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237764"/>
                </a:solidFill>
                <a:latin typeface="Aptos"/>
              </a:defRPr>
            </a:pPr>
            <a:r>
              <a:t>05 ·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What we used, and what remains to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ResNet-18 is the implemented approach; alternatives are honestly labeled as future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520440" cy="242316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64008" cy="2276856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4C779D"/>
                </a:solidFill>
                <a:latin typeface="Aptos Display"/>
              </a:defRPr>
            </a:pPr>
            <a:r>
              <a:t>Frequency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3154680" cy="167335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Predict the most common training quantity for each product.</a:t>
            </a:r>
            <a:br/>
            <a:br/>
            <a:r>
              <a:t>Why compare: establishes a simple, interpretable benchmark.</a:t>
            </a:r>
            <a:br/>
            <a:br/>
            <a:r>
              <a:t>Status: proposed, not measured.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37360"/>
            <a:ext cx="3520440" cy="242316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10512"/>
            <a:ext cx="64008" cy="2276856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237764"/>
                </a:solidFill>
                <a:latin typeface="Aptos Display"/>
              </a:defRPr>
            </a:pPr>
            <a:r>
              <a:t>ResNet-18 quantity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59152"/>
            <a:ext cx="3154680" cy="167335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Predict six quantity classes for each of 10 products.</a:t>
            </a:r>
            <a:br/>
            <a:br/>
            <a:r>
              <a:t>Why use it: transfer learning can extract visual features.</a:t>
            </a:r>
            <a:br/>
            <a:br/>
            <a:r>
              <a:t>Status: implemented and evaluated.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37360"/>
            <a:ext cx="3520440" cy="242316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810512"/>
            <a:ext cx="64008" cy="2276856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C79436"/>
                </a:solidFill>
                <a:latin typeface="Aptos Display"/>
              </a:defRPr>
            </a:pPr>
            <a:r>
              <a:t>Detection / instance counting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59152"/>
            <a:ext cx="3154680" cy="167335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Locate visible instances and count them.</a:t>
            </a:r>
            <a:br/>
            <a:br/>
            <a:r>
              <a:t>Why consider it: could help with crowded scenes.</a:t>
            </a:r>
            <a:br/>
            <a:br/>
            <a:r>
              <a:t>Status: future option; needs suitable annotations.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709160"/>
            <a:ext cx="10607040" cy="6400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r>
              <a:t>The current reported results are from the implemented ResNet-18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CB6353"/>
                </a:solidFill>
                <a:latin typeface="Aptos"/>
              </a:defRPr>
            </a:pPr>
            <a:r>
              <a:t>06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How well did the model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Held-out test set · 200 images · argmax quantity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423160" cy="1417320"/>
          </a:xfrm>
          <a:prstGeom prst="roundRect">
            <a:avLst/>
          </a:prstGeom>
          <a:solidFill>
            <a:srgbClr val="DAEDE3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22402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600" b="1">
                <a:solidFill>
                  <a:srgbClr val="237764"/>
                </a:solidFill>
                <a:latin typeface="Aptos Display"/>
              </a:defRPr>
            </a:pPr>
            <a:r>
              <a:t>60.00%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87752"/>
            <a:ext cx="2194560" cy="4114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263331"/>
                </a:solidFill>
                <a:latin typeface="Aptos"/>
              </a:defRPr>
            </a:pPr>
            <a:r>
              <a:t>Whole-vector exact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783080"/>
            <a:ext cx="2423160" cy="1417320"/>
          </a:xfrm>
          <a:prstGeom prst="roundRect">
            <a:avLst/>
          </a:prstGeom>
          <a:solidFill>
            <a:srgbClr val="E1EDF6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029968"/>
            <a:ext cx="22402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600" b="1">
                <a:solidFill>
                  <a:srgbClr val="4C779D"/>
                </a:solidFill>
                <a:latin typeface="Aptos Display"/>
              </a:defRPr>
            </a:pPr>
            <a:r>
              <a:t>0.0565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87752"/>
            <a:ext cx="2194560" cy="4114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263331"/>
                </a:solidFill>
                <a:latin typeface="Aptos"/>
              </a:defRPr>
            </a:pPr>
            <a:r>
              <a:t>MAE across all entries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783080"/>
            <a:ext cx="2423160" cy="1417320"/>
          </a:xfrm>
          <a:prstGeom prst="roundRect">
            <a:avLst/>
          </a:prstGeom>
          <a:solidFill>
            <a:srgbClr val="F8E2DA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029968"/>
            <a:ext cx="22402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600" b="1">
                <a:solidFill>
                  <a:srgbClr val="CB6353"/>
                </a:solidFill>
                <a:latin typeface="Aptos Display"/>
              </a:defRPr>
            </a:pPr>
            <a:r>
              <a:t>27.18%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87752"/>
            <a:ext cx="2194560" cy="4114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263331"/>
                </a:solidFill>
                <a:latin typeface="Aptos"/>
              </a:defRPr>
            </a:pPr>
            <a:r>
              <a:t>Exact accuracy on present 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783080"/>
            <a:ext cx="2423160" cy="1417320"/>
          </a:xfrm>
          <a:prstGeom prst="roundRect">
            <a:avLst/>
          </a:prstGeom>
          <a:solidFill>
            <a:srgbClr val="F9EECF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5" y="2029968"/>
            <a:ext cx="22402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600" b="1">
                <a:solidFill>
                  <a:srgbClr val="C79436"/>
                </a:solidFill>
                <a:latin typeface="Aptos Display"/>
              </a:defRPr>
            </a:pPr>
            <a:r>
              <a:t>1.0000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3" y="2587752"/>
            <a:ext cx="2194560" cy="4114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263331"/>
                </a:solidFill>
                <a:latin typeface="Aptos"/>
              </a:defRPr>
            </a:pPr>
            <a:r>
              <a:t>MAE on present entries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11880"/>
            <a:ext cx="52578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85032"/>
            <a:ext cx="64008" cy="1362456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758184"/>
            <a:ext cx="489204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Why these metrics?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33672"/>
            <a:ext cx="4892040" cy="75895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Exact match shows fully correct images. MAE shows average count error. Present-only metrics reveal errors that a zero-heavy dataset can hide.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11880"/>
            <a:ext cx="5257800" cy="150876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685032"/>
            <a:ext cx="64008" cy="1362456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58184"/>
            <a:ext cx="489204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B6353"/>
                </a:solidFill>
                <a:latin typeface="Aptos Display"/>
              </a:defRPr>
            </a:pPr>
            <a:r>
              <a:t>Order-level evaluation (separate)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33672"/>
            <a:ext cx="4892040" cy="75895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Synthetic orders: 79.25% accuracy; 0/200 invalid orders passed; 83/200 valid orders rejected in the earlier evaluation.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6235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1">
                <a:solidFill>
                  <a:srgbClr val="CB6353"/>
                </a:solidFill>
                <a:latin typeface="Aptos"/>
              </a:defRPr>
            </a:pPr>
            <a:r>
              <a:t>Interpretation: the model is a prototype. Present-item quantity estimation remains unreliable and needs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C79436"/>
                </a:solidFill>
                <a:latin typeface="Aptos"/>
              </a:defRPr>
            </a:pPr>
            <a:r>
              <a:t>07 · FAILURE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r>
              <a:t>Where the model can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r>
              <a:t>Five failure patterns observed or to investigate from model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0881360" cy="66751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92224"/>
            <a:ext cx="1417320" cy="320040"/>
          </a:xfrm>
          <a:prstGeom prst="roundRect">
            <a:avLst/>
          </a:prstGeom>
          <a:solidFill>
            <a:srgbClr val="F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42516"/>
            <a:ext cx="134416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B6353"/>
                </a:solidFill>
                <a:latin typeface="Aptos"/>
              </a:defRPr>
            </a:pPr>
            <a:r>
              <a:t>MISSED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755648"/>
            <a:ext cx="2834640" cy="40233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A requested product predicted as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59736"/>
            <a:ext cx="10881360" cy="66751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624328"/>
            <a:ext cx="1417320" cy="320040"/>
          </a:xfrm>
          <a:prstGeom prst="roundRect">
            <a:avLst/>
          </a:prstGeom>
          <a:solidFill>
            <a:srgbClr val="F9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674620"/>
            <a:ext cx="134416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79436"/>
                </a:solidFill>
                <a:latin typeface="Aptos"/>
              </a:defRPr>
            </a:pPr>
            <a:r>
              <a:t>UNDERCOUNT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587752"/>
            <a:ext cx="2834640" cy="40233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Predicted count is below the true 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69464"/>
            <a:ext cx="589788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5B6965"/>
                </a:solidFill>
                <a:latin typeface="Aptos"/>
              </a:defRPr>
            </a:pPr>
            <a:r>
              <a:t>Add crowded scenes and examples for higher quantities.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81360" cy="66751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456432"/>
            <a:ext cx="1417320" cy="320040"/>
          </a:xfrm>
          <a:prstGeom prst="roundRect">
            <a:avLst/>
          </a:prstGeom>
          <a:solidFill>
            <a:srgbClr val="E1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506724"/>
            <a:ext cx="134416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4C779D"/>
                </a:solidFill>
                <a:latin typeface="Aptos"/>
              </a:defRPr>
            </a:pPr>
            <a:r>
              <a:t>FALSE PRESENCE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419856"/>
            <a:ext cx="2834640" cy="40233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A product is predicted when absent.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23944"/>
            <a:ext cx="10881360" cy="66751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288536"/>
            <a:ext cx="1417320" cy="320040"/>
          </a:xfrm>
          <a:prstGeom prst="roundRect">
            <a:avLst/>
          </a:prstGeom>
          <a:solidFill>
            <a:srgbClr val="DA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338827"/>
            <a:ext cx="134416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237764"/>
                </a:solidFill>
                <a:latin typeface="Aptos"/>
              </a:defRPr>
            </a:pPr>
            <a:r>
              <a:t>RARE QUANTITIES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592" y="4251959"/>
            <a:ext cx="2834640" cy="40233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Classes 3–5 have fewer examples.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233672"/>
            <a:ext cx="589788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5B6965"/>
                </a:solidFill>
                <a:latin typeface="Aptos"/>
              </a:defRPr>
            </a:pPr>
            <a:r>
              <a:t>Improve label balance and collect additional examples.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56048"/>
            <a:ext cx="10881360" cy="667512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5120640"/>
            <a:ext cx="1417320" cy="320040"/>
          </a:xfrm>
          <a:prstGeom prst="roundRect">
            <a:avLst/>
          </a:prstGeom>
          <a:solidFill>
            <a:srgbClr val="ED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170931"/>
            <a:ext cx="134416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917EAD"/>
                </a:solidFill>
                <a:latin typeface="Aptos"/>
              </a:defRPr>
            </a:pPr>
            <a:r>
              <a:t>METRIC MISMATCH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5084064"/>
            <a:ext cx="2834640" cy="40233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App output and offline argmax metrics differ.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065776"/>
            <a:ext cx="589788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5B6965"/>
                </a:solidFill>
                <a:latin typeface="Aptos"/>
              </a:defRPr>
            </a:pPr>
            <a:r>
              <a:t>Keep evaluation protocols separate and document threshold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237764"/>
                </a:solidFill>
                <a:latin typeface="Aptos"/>
              </a:defRPr>
            </a:pPr>
            <a:r>
              <a:t>08 · APP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From image upload to order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Architecture flow and screenshots from the deployed Streamlit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029968" cy="804672"/>
          </a:xfrm>
          <a:prstGeom prst="roundRect">
            <a:avLst/>
          </a:prstGeom>
          <a:solidFill>
            <a:srgbClr val="DAEDE3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72768"/>
            <a:ext cx="384048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23776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554480"/>
            <a:ext cx="1417320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Upload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47088"/>
            <a:ext cx="141732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5B6965"/>
                </a:solidFill>
                <a:latin typeface="Aptos"/>
              </a:defRPr>
            </a:pPr>
            <a:r>
              <a:t>JPG / 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481328"/>
            <a:ext cx="2029968" cy="804672"/>
          </a:xfrm>
          <a:prstGeom prst="roundRect">
            <a:avLst/>
          </a:prstGeom>
          <a:solidFill>
            <a:srgbClr val="E1EDF6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572768"/>
            <a:ext cx="384048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4C779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7" y="1554480"/>
            <a:ext cx="1417320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7" y="1847088"/>
            <a:ext cx="141732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5B6965"/>
                </a:solidFill>
                <a:latin typeface="Aptos"/>
              </a:defRPr>
            </a:pPr>
            <a:r>
              <a:t>Resize + normalize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481328"/>
            <a:ext cx="2029968" cy="804672"/>
          </a:xfrm>
          <a:prstGeom prst="roundRect">
            <a:avLst/>
          </a:prstGeom>
          <a:solidFill>
            <a:srgbClr val="F9EECF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572768"/>
            <a:ext cx="384048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C7943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1554480"/>
            <a:ext cx="1417320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ResNet-18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48" y="1847088"/>
            <a:ext cx="141732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5B6965"/>
                </a:solidFill>
                <a:latin typeface="Aptos"/>
              </a:defRPr>
            </a:pPr>
            <a:r>
              <a:t>10 × 6 logits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481328"/>
            <a:ext cx="2029968" cy="804672"/>
          </a:xfrm>
          <a:prstGeom prst="roundRect">
            <a:avLst/>
          </a:prstGeom>
          <a:solidFill>
            <a:srgbClr val="F8E2DA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7" y="1572768"/>
            <a:ext cx="384048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CB635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1554480"/>
            <a:ext cx="1417320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7" y="1847088"/>
            <a:ext cx="141732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5B6965"/>
                </a:solidFill>
                <a:latin typeface="Aptos"/>
              </a:defRPr>
            </a:pPr>
            <a:r>
              <a:t>Order vs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481328"/>
            <a:ext cx="2029968" cy="804672"/>
          </a:xfrm>
          <a:prstGeom prst="roundRect">
            <a:avLst/>
          </a:prstGeom>
          <a:solidFill>
            <a:srgbClr val="EDE6F6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1572768"/>
            <a:ext cx="384048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917EA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1554480"/>
            <a:ext cx="1417320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5288" y="1847088"/>
            <a:ext cx="141732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5B6965"/>
                </a:solidFill>
                <a:latin typeface="Aptos"/>
              </a:defRPr>
            </a:pPr>
            <a:r>
              <a:t>PASS / FAIL + CSV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78608"/>
            <a:ext cx="5577840" cy="195681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578608"/>
            <a:ext cx="5440680" cy="195681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77240" y="4709160"/>
            <a:ext cx="914400" cy="320040"/>
          </a:xfrm>
          <a:prstGeom prst="roundRect">
            <a:avLst/>
          </a:prstGeom>
          <a:solidFill>
            <a:srgbClr val="DA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759452"/>
            <a:ext cx="84124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237764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700016"/>
            <a:ext cx="429768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Requested quantity 1, predicted quantity 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2512" y="4709160"/>
            <a:ext cx="868680" cy="320040"/>
          </a:xfrm>
          <a:prstGeom prst="roundRect">
            <a:avLst/>
          </a:prstGeom>
          <a:solidFill>
            <a:srgbClr val="F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759452"/>
            <a:ext cx="795528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B6353"/>
                </a:solidFill>
                <a:latin typeface="Aptos"/>
              </a:defRPr>
            </a:pPr>
            <a:r>
              <a:t>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700016"/>
            <a:ext cx="416052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1">
                <a:solidFill>
                  <a:srgbClr val="263331"/>
                </a:solidFill>
                <a:latin typeface="Aptos"/>
              </a:defRPr>
            </a:pPr>
            <a:r>
              <a:t>Requested quantity 1, predicted quantity 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1">
                <a:solidFill>
                  <a:srgbClr val="237764"/>
                </a:solidFill>
                <a:latin typeface="Aptos"/>
              </a:defRPr>
            </a:pPr>
            <a:r>
              <a:t>Order rule: check only products in the order. If any requested item is missing or under-counted, FAIL; ignore unrequested items.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4C779D"/>
                </a:solidFill>
                <a:latin typeface="Aptos"/>
              </a:defRPr>
            </a:pPr>
            <a:r>
              <a:t>09 ·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Deploy, monitor, retrain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Prototype deployment used free services; production costs depend on usage and service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64008" cy="1773936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237764"/>
                </a:solidFill>
                <a:latin typeface="Aptos Display"/>
              </a:defRPr>
            </a:pPr>
            <a:r>
              <a:t>Deploy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Version model, code, catalogue and dependencies. Add smoke tests and a rollback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37360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10512"/>
            <a:ext cx="64008" cy="1773936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4C779D"/>
                </a:solidFill>
                <a:latin typeface="Aptos Display"/>
              </a:defRPr>
            </a:pPr>
            <a:r>
              <a:t>Monitor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59152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Track latency, errors, product-level misses, prediction distribution and human overrides.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37360"/>
            <a:ext cx="352044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810512"/>
            <a:ext cx="64008" cy="1773936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C79436"/>
                </a:solidFill>
                <a:latin typeface="Aptos Display"/>
              </a:defRPr>
            </a:pPr>
            <a:r>
              <a:t>Retrain responsibly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59152"/>
            <a:ext cx="3154680" cy="11704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Use reviewed new labels. Tune on training/validation data and keep the test set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519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237764"/>
                </a:solidFill>
                <a:latin typeface="Aptos"/>
              </a:defRPr>
            </a:pPr>
            <a:r>
              <a:t>CURRENT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72000"/>
            <a:ext cx="5074920" cy="7315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All services used for the prototype were free, according to the developer.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51960"/>
            <a:ext cx="507492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1">
                <a:solidFill>
                  <a:srgbClr val="CB6353"/>
                </a:solidFill>
                <a:latin typeface="Aptos"/>
              </a:defRPr>
            </a:pPr>
            <a:r>
              <a:t>PRODUCTION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5074920" cy="8686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Not estimated: expected traffic, compute, storage, monitoring and support requirements are unknown.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917EAD"/>
                </a:solidFill>
                <a:latin typeface="Aptos"/>
              </a:defRPr>
            </a:pPr>
            <a:r>
              <a:t>10 · AI-ASSISTED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Check the code, not just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91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r>
              <a:t>AI-assisted development supported code refinement and debugging.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520440" cy="21488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56231"/>
            <a:ext cx="64008" cy="2002536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2938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CB6353"/>
                </a:solidFill>
                <a:latin typeface="Aptos Display"/>
              </a:defRPr>
            </a:pPr>
            <a:r>
              <a:t>The warning 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04872"/>
            <a:ext cx="3154680" cy="1399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Accuracy metrics did not reconcile as expected, and parts of the code appeared to overfit.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83080"/>
            <a:ext cx="3520440" cy="21488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56231"/>
            <a:ext cx="64008" cy="2002536"/>
          </a:xfrm>
          <a:prstGeom prst="rect">
            <a:avLst/>
          </a:prstGeom>
          <a:solidFill>
            <a:srgbClr val="C79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92938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C79436"/>
                </a:solidFill>
                <a:latin typeface="Aptos Display"/>
              </a:defRPr>
            </a:pPr>
            <a:r>
              <a:t>How it was caught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404872"/>
            <a:ext cx="3154680" cy="1399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The evaluation outputs were checked instead of accepting generated code at face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783080"/>
            <a:ext cx="3520440" cy="214884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1856231"/>
            <a:ext cx="64008" cy="2002536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92938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800" b="1">
                <a:solidFill>
                  <a:srgbClr val="237764"/>
                </a:solidFill>
                <a:latin typeface="Aptos Display"/>
              </a:defRPr>
            </a:pPr>
            <a:r>
              <a:t>What 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404872"/>
            <a:ext cx="3154680" cy="1399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0">
                <a:solidFill>
                  <a:srgbClr val="263331"/>
                </a:solidFill>
                <a:latin typeface="Aptos"/>
              </a:defRPr>
            </a:pPr>
            <a:r>
              <a:t>AI-assisted code was refined to improve reliability, then the metrics were reviewed again.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CB6353"/>
                </a:solidFill>
                <a:latin typeface="Aptos"/>
              </a:defRPr>
            </a:pPr>
            <a:r>
              <a:t>11 ·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What needs to improve before real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Separate measured results from planned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520440" cy="205740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64008" cy="1911095"/>
          </a:xfrm>
          <a:prstGeom prst="rect">
            <a:avLst/>
          </a:prstGeom>
          <a:solidFill>
            <a:srgbClr val="CB6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CB6353"/>
                </a:solidFill>
                <a:latin typeface="Aptos Display"/>
              </a:defRPr>
            </a:pPr>
            <a:r>
              <a:t>Model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59152"/>
            <a:ext cx="3154680" cy="1307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Present-item exact quantity accuracy is 27.18%; don't rely on the model alone for inventory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737360"/>
            <a:ext cx="3520440" cy="205740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10512"/>
            <a:ext cx="64008" cy="1911095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237764"/>
                </a:solidFill>
                <a:latin typeface="Aptos Display"/>
              </a:defRPr>
            </a:pPr>
            <a: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59152"/>
            <a:ext cx="3154680" cy="1307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Collect more varied images, improve coverage for rare counts and inspect per-product label distributions.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737360"/>
            <a:ext cx="3520440" cy="2057400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810512"/>
            <a:ext cx="64008" cy="1911095"/>
          </a:xfrm>
          <a:prstGeom prst="rect">
            <a:avLst/>
          </a:prstGeom>
          <a:solidFill>
            <a:srgbClr val="4C7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83664"/>
            <a:ext cx="31546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700" b="1">
                <a:solidFill>
                  <a:srgbClr val="4C779D"/>
                </a:solidFill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59152"/>
            <a:ext cx="3154680" cy="1307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300" b="0">
                <a:solidFill>
                  <a:srgbClr val="263331"/>
                </a:solidFill>
                <a:latin typeface="Aptos"/>
              </a:defRPr>
            </a:pPr>
            <a:r>
              <a:t>Run a frequency baseline and analyze five actual test errors on the same held-out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89120"/>
            <a:ext cx="10698480" cy="6858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Keep test-set results untouched during model selection. Use training and validation data for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01168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000" b="1">
                <a:solidFill>
                  <a:srgbClr val="237764"/>
                </a:solidFill>
                <a:latin typeface="Aptos"/>
              </a:defRPr>
            </a:pPr>
            <a:r>
              <a:t>12 · DECISION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2900" b="1">
                <a:solidFill>
                  <a:srgbClr val="263331"/>
                </a:solidFill>
                <a:latin typeface="Aptos Display"/>
              </a:defRPr>
            </a:pPr>
            <a:r>
              <a:t>A useful prototype, with clear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713232" cy="50292"/>
          </a:xfrm>
          <a:prstGeom prst="rect">
            <a:avLst/>
          </a:prstGeom>
          <a:solidFill>
            <a:srgbClr val="237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200" b="0">
                <a:solidFill>
                  <a:srgbClr val="5B6965"/>
                </a:solidFill>
                <a:latin typeface="Aptos"/>
              </a:defRPr>
            </a:pPr>
            <a:r>
              <a:t>For a non-technical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645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defRPr sz="900" b="0">
                <a:solidFill>
                  <a:srgbClr val="5B6965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44200" cy="65836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764792"/>
            <a:ext cx="1508760" cy="320040"/>
          </a:xfrm>
          <a:prstGeom prst="roundRect">
            <a:avLst/>
          </a:prstGeom>
          <a:solidFill>
            <a:srgbClr val="DA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5084"/>
            <a:ext cx="1435607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237764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737360"/>
            <a:ext cx="84124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Estimates quantities for 10 selected products from a bin photograph.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32304"/>
            <a:ext cx="10744200" cy="65836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596896"/>
            <a:ext cx="1508760" cy="320040"/>
          </a:xfrm>
          <a:prstGeom prst="roundRect">
            <a:avLst/>
          </a:prstGeom>
          <a:solidFill>
            <a:srgbClr val="E1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47188"/>
            <a:ext cx="1435607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4C779D"/>
                </a:solidFill>
                <a:latin typeface="Aptos"/>
              </a:defRPr>
            </a:pPr>
            <a:r>
              <a:t>HOW IT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69464"/>
            <a:ext cx="84124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All 10 quantities were exactly right on 60% of 200 held-out test images.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64408"/>
            <a:ext cx="10744200" cy="65836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" y="3429000"/>
            <a:ext cx="1508760" cy="320040"/>
          </a:xfrm>
          <a:prstGeom prst="roundRect">
            <a:avLst/>
          </a:prstGeom>
          <a:solidFill>
            <a:srgbClr val="F8E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79292"/>
            <a:ext cx="1435607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B6353"/>
                </a:solidFill>
                <a:latin typeface="Aptos"/>
              </a:defRPr>
            </a:pPr>
            <a:r>
              <a:t>KEY 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01568"/>
            <a:ext cx="84124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Present-product exact quantity accuracy was 27.18%; errors remain material.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96512"/>
            <a:ext cx="10744200" cy="65836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4261104"/>
            <a:ext cx="1508760" cy="320040"/>
          </a:xfrm>
          <a:prstGeom prst="roundRect">
            <a:avLst/>
          </a:prstGeom>
          <a:solidFill>
            <a:srgbClr val="F9E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311396"/>
            <a:ext cx="1435607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C79436"/>
                </a:solidFill>
                <a:latin typeface="Aptos"/>
              </a:defRPr>
            </a:pPr>
            <a:r>
              <a:t>WHAT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33672"/>
            <a:ext cx="84124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The Streamlit demo validates orders and produces downloadable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28616"/>
            <a:ext cx="10744200" cy="658368"/>
          </a:xfrm>
          <a:prstGeom prst="roundRect">
            <a:avLst/>
          </a:prstGeom>
          <a:solidFill>
            <a:srgbClr val="FFFFFC"/>
          </a:solidFill>
          <a:ln>
            <a:solidFill>
              <a:srgbClr val="DD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" y="5093208"/>
            <a:ext cx="1508760" cy="320040"/>
          </a:xfrm>
          <a:prstGeom prst="roundRect">
            <a:avLst/>
          </a:prstGeom>
          <a:solidFill>
            <a:srgbClr val="EDE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143500"/>
            <a:ext cx="1435607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917EAD"/>
                </a:solidFill>
                <a:latin typeface="Aptos"/>
              </a:defRPr>
            </a:pPr>
            <a:r>
              <a:t>NEXT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065776"/>
            <a:ext cx="841248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400" b="1">
                <a:solidFill>
                  <a:srgbClr val="263331"/>
                </a:solidFill>
                <a:latin typeface="Aptos"/>
              </a:defRPr>
            </a:pPr>
            <a:r>
              <a:t>Improve data, inspect real failures and require human verification before operational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1051560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1100" b="0">
                <a:solidFill>
                  <a:srgbClr val="5B6965"/>
                </a:solidFill>
                <a:latin typeface="Aptos"/>
              </a:defRPr>
            </a:pPr>
            <a:r>
              <a:t>Farhan Mohammed  •  Smart Bin Classifier  •  12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Bin Classifier</dc:title>
  <dc:subject>Computer vision quantity estimation and order validation</dc:subject>
  <dc:creator>Smart Bin Classifier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