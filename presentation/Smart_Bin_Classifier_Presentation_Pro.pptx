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731520"/>
            <a:ext cx="2286000" cy="2286000"/>
          </a:xfrm>
          <a:prstGeom prst="ellipse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2057400"/>
            <a:ext cx="1691640" cy="1691640"/>
          </a:xfrm>
          <a:prstGeom prst="ellipse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3886200"/>
            <a:ext cx="1234440" cy="1234440"/>
          </a:xfrm>
          <a:prstGeom prst="ellipse">
            <a:avLst/>
          </a:prstGeom>
          <a:solidFill>
            <a:srgbClr val="F1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95560" y="4572000"/>
            <a:ext cx="640080" cy="640080"/>
          </a:xfrm>
          <a:prstGeom prst="ellipse">
            <a:avLst/>
          </a:prstGeom>
          <a:solidFill>
            <a:srgbClr val="7BE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49808"/>
            <a:ext cx="6309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BEBE"/>
                </a:solidFill>
                <a:latin typeface="Aptos"/>
              </a:rPr>
              <a:t>COMPUTER VISION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69494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Smart Bin
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6172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D4E0F1"/>
                </a:solidFill>
                <a:latin typeface="Aptos"/>
              </a:rPr>
              <a:t>Image-based quantity estimation
and order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15968"/>
            <a:ext cx="640080" cy="50292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81728"/>
            <a:ext cx="6035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BE2C7"/>
                </a:solidFill>
                <a:latin typeface="Aptos"/>
              </a:rP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84064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4C6DC"/>
                </a:solidFill>
                <a:latin typeface="Aptos"/>
              </a:rPr>
              <a:t>ResNet-18  /  PyTorch  /  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97880"/>
            <a:ext cx="1417320" cy="292608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52744"/>
            <a:ext cx="1325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PROTOTYPE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9152" y="5897880"/>
            <a:ext cx="1508760" cy="292608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5952744"/>
            <a:ext cx="14173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10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5897880"/>
            <a:ext cx="1463040" cy="292608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5952744"/>
            <a:ext cx="1371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224 × 224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B4C6D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A working prototype that connects image prediction with order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4114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65E1"/>
                </a:solidFill>
                <a:latin typeface="Aptos"/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206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01D33"/>
                </a:solidFill>
                <a:latin typeface="Aptos"/>
              </a:rPr>
              <a:t>Turn a bin photo into a structured estimate of the quantities of selected products.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74720"/>
            <a:ext cx="39319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83549"/>
                </a:solidFill>
                <a:latin typeface="Aptos"/>
              </a:rPr>
              <a:t>The app then compares those estimates with an order and presents a PASS / FAIL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664208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1664208"/>
            <a:ext cx="64008" cy="1828800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828800"/>
            <a:ext cx="1490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D65E1"/>
                </a:solidFill>
                <a:latin typeface="Aptos"/>
              </a:rPr>
              <a:t>01 /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112264"/>
            <a:ext cx="1490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Bin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560320"/>
            <a:ext cx="1490472" cy="8046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83549"/>
                </a:solidFill>
                <a:latin typeface="Aptos"/>
              </a:rPr>
              <a:t>Upload a photo or choose a demo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664208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664208"/>
            <a:ext cx="64008" cy="1828800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1828800"/>
            <a:ext cx="1490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BBEBE"/>
                </a:solidFill>
                <a:latin typeface="Aptos"/>
              </a:rPr>
              <a:t>02 /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2112264"/>
            <a:ext cx="1490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Quantity estimate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2560320"/>
            <a:ext cx="1490472" cy="8046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83549"/>
                </a:solidFill>
                <a:latin typeface="Aptos"/>
              </a:rPr>
              <a:t>Predict quantities for 10 catalogue ASINs.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664208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664208"/>
            <a:ext cx="64008" cy="1828800"/>
          </a:xfrm>
          <a:prstGeom prst="rect">
            <a:avLst/>
          </a:prstGeom>
          <a:solidFill>
            <a:srgbClr val="F1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1828800"/>
            <a:ext cx="1673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F1AB4D"/>
                </a:solidFill>
                <a:latin typeface="Aptos"/>
              </a:rPr>
              <a:t>03 /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112264"/>
            <a:ext cx="16733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Order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560320"/>
            <a:ext cx="1673352" cy="8046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83549"/>
                </a:solidFill>
                <a:latin typeface="Aptos"/>
              </a:rPr>
              <a:t>Compare prediction with requested quantities.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72000"/>
            <a:ext cx="10561320" cy="960120"/>
          </a:xfrm>
          <a:prstGeom prst="roundRect">
            <a:avLst/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7316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BEBE"/>
                </a:solidFill>
                <a:latin typeface="Aptos"/>
              </a:rPr>
              <a:t>CURRENT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084064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End-to-end prototype tested locally; quantity accuracy and false rejections remain improvement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Why a visual validation workflow is useful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64008" cy="2011680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856232"/>
            <a:ext cx="2953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D65E1"/>
                </a:solidFill>
                <a:latin typeface="Aptos"/>
              </a:rPr>
              <a:t>CHALLENGE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13969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Manual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295351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549"/>
                </a:solidFill>
                <a:latin typeface="Aptos"/>
              </a:rPr>
              <a:t>Visual bin inspection can be repetitive and slow when each order contains multiple products.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64008" cy="2011680"/>
          </a:xfrm>
          <a:prstGeom prst="rect">
            <a:avLst/>
          </a:prstGeom>
          <a:solidFill>
            <a:srgbClr val="DF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856232"/>
            <a:ext cx="2953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F5C66"/>
                </a:solidFill>
                <a:latin typeface="Aptos"/>
              </a:rPr>
              <a:t>CHALLENGE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3969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Quantity ambiguity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587752"/>
            <a:ext cx="295351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549"/>
                </a:solidFill>
                <a:latin typeface="Aptos"/>
              </a:rPr>
              <a:t>Overlapping products, packaging similarity and rare examples make exact counts difficult.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9164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91640"/>
            <a:ext cx="64008" cy="2011680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856232"/>
            <a:ext cx="2953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BBEBE"/>
                </a:solidFill>
                <a:latin typeface="Aptos"/>
              </a:rPr>
              <a:t>CHALLENGE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13969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Decision 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587752"/>
            <a:ext cx="295351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83549"/>
                </a:solidFill>
                <a:latin typeface="Aptos"/>
              </a:rPr>
              <a:t>A structured comparison can make order checks more repeatable, provided predictions are reliable.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D65E1"/>
                </a:solidFill>
                <a:latin typeface="Aptos"/>
              </a:rPr>
              <a:t>PROJECT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10332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01D33"/>
                </a:solidFill>
                <a:latin typeface="Aptos"/>
              </a:rPr>
              <a:t>Build a usable prototype that estimates quantities from an image and flags differences against a requested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A simple pipeline from image to order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03120"/>
            <a:ext cx="457200" cy="292608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1579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78608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D65E1"/>
                </a:solidFill>
                <a:latin typeface="Aptos"/>
              </a:rPr>
              <a:t>IMAGE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62072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1D33"/>
                </a:solidFill>
                <a:latin typeface="Aptos"/>
              </a:rPr>
              <a:t>Upload 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46120"/>
            <a:ext cx="13533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User selects a bin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2816352"/>
            <a:ext cx="457200" cy="3200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9232" y="192024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63824" y="2103120"/>
            <a:ext cx="457200" cy="292608"/>
          </a:xfrm>
          <a:prstGeom prst="round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21579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578608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BBEBE"/>
                </a:solidFill>
                <a:latin typeface="Aptos"/>
              </a:rPr>
              <a:t>PREPROCESS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2862072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1D33"/>
                </a:solidFill>
                <a:latin typeface="Aptos"/>
              </a:rPr>
              <a:t>224 × 224 RGB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3824" y="3246120"/>
            <a:ext cx="13533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Resize and normalize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8304" y="2816352"/>
            <a:ext cx="457200" cy="3200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5232" y="192024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49824" y="2103120"/>
            <a:ext cx="457200" cy="292608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21579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2578608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D65E1"/>
                </a:solidFill>
                <a:latin typeface="Aptos"/>
              </a:rPr>
              <a:t>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2862072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1D33"/>
                </a:solidFill>
                <a:latin typeface="Aptos"/>
              </a:rPr>
              <a:t>ResNet-18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3246120"/>
            <a:ext cx="13533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Predict 10 × 6 classes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4304" y="2816352"/>
            <a:ext cx="457200" cy="3200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71231" y="192024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35823" y="2103120"/>
            <a:ext cx="457200" cy="292608"/>
          </a:xfrm>
          <a:prstGeom prst="roundRect">
            <a:avLst/>
          </a:prstGeom>
          <a:solidFill>
            <a:srgbClr val="F1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81544" y="21579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823" y="2578608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1AB4D"/>
                </a:solidFill>
                <a:latin typeface="Aptos"/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3" y="2862072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1D33"/>
                </a:solidFill>
                <a:latin typeface="Aptos"/>
              </a:rPr>
              <a:t>Order quantities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3" y="3246120"/>
            <a:ext cx="13533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Compare requested vs. predicted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0304" y="2816352"/>
            <a:ext cx="457200" cy="3200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57232" y="1920240"/>
            <a:ext cx="1645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21824" y="2103120"/>
            <a:ext cx="457200" cy="292608"/>
          </a:xfrm>
          <a:prstGeom prst="roundRect">
            <a:avLst/>
          </a:prstGeom>
          <a:solidFill>
            <a:srgbClr val="23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67544" y="21579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2578608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239975"/>
                </a:solidFill>
                <a:latin typeface="Aptos"/>
              </a:rPr>
              <a:t>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1824" y="2862072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1D33"/>
                </a:solidFill>
                <a:latin typeface="Aptos"/>
              </a:rPr>
              <a:t>PASS / 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1824" y="3246120"/>
            <a:ext cx="13533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Display product-level outcome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617720"/>
            <a:ext cx="104241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1D33"/>
                </a:solidFill>
                <a:latin typeface="Aptos"/>
              </a:rPr>
              <a:t>The result is decision support for a human reviewer, not an autonomous inventory guarantee.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Dataset &amp; evaluation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The project uses a 2,000-image subset and keeps the blind split separate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56231"/>
            <a:ext cx="2011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D65E1"/>
                </a:solidFill>
                <a:latin typeface="Aptos"/>
              </a:rPr>
              <a:t>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304288"/>
            <a:ext cx="20116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8778D"/>
                </a:solidFill>
                <a:latin typeface="Aptos"/>
              </a:rPr>
              <a:t>Images in project subset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856231"/>
            <a:ext cx="2011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BBEBE"/>
                </a:solidFill>
                <a:latin typeface="Aptos"/>
              </a:rPr>
              <a:t>1,400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304288"/>
            <a:ext cx="20116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8778D"/>
                </a:solidFill>
                <a:latin typeface="Aptos"/>
              </a:rPr>
              <a:t>Training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69164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856231"/>
            <a:ext cx="2011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1AB4D"/>
                </a:solidFill>
                <a:latin typeface="Aptos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304288"/>
            <a:ext cx="20116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8778D"/>
                </a:solidFill>
                <a:latin typeface="Aptos"/>
              </a:rPr>
              <a:t>Validation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69164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1856231"/>
            <a:ext cx="2011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DF5C66"/>
                </a:solidFill>
                <a:latin typeface="Aptos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2304288"/>
            <a:ext cx="20116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8778D"/>
                </a:solidFill>
                <a:latin typeface="Aptos"/>
              </a:rPr>
              <a:t>Test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4612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D65E1"/>
                </a:solidFill>
                <a:latin typeface="Aptos"/>
              </a:rPr>
              <a:t>SPLIT ALLOCATION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703320"/>
            <a:ext cx="7328915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813048"/>
            <a:ext cx="72557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 70%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1875" y="3703320"/>
            <a:ext cx="1046988" cy="438912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3" y="3703320"/>
            <a:ext cx="1046988" cy="438912"/>
          </a:xfrm>
          <a:prstGeom prst="rect">
            <a:avLst/>
          </a:prstGeom>
          <a:solidFill>
            <a:srgbClr val="F1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5851" y="3703320"/>
            <a:ext cx="1046988" cy="438912"/>
          </a:xfrm>
          <a:prstGeom prst="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1D33"/>
                </a:solidFill>
                <a:latin typeface="Aptos"/>
              </a:rPr>
              <a:t>Catalogue scope: 10 ASINs • quantity classes 0–5 • input size 224 × 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F5C66"/>
                </a:solidFill>
                <a:latin typeface="Aptos"/>
              </a:rPr>
              <a:t>Protocol: blind data is reserved for later use and was not used for model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ResNet-18 predicts one of six quantity classes for each catalogue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D65E1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1600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01D33"/>
                </a:solidFill>
                <a:latin typeface="Aptos"/>
              </a:rPr>
              <a:t>RGB image
224 × 224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20240"/>
            <a:ext cx="2148840" cy="1463040"/>
          </a:xfrm>
          <a:prstGeom prst="roundRect">
            <a:avLst/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BBEBE"/>
                </a:solidFill>
                <a:latin typeface="Aptos"/>
              </a:rPr>
              <a:t>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87752"/>
            <a:ext cx="1691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ResNet-18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92024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194560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D65E1"/>
                </a:solidFill>
                <a:latin typeface="Aptos"/>
              </a:rPr>
              <a:t>OUTPUT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578608"/>
            <a:ext cx="1691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1D33"/>
                </a:solidFill>
                <a:latin typeface="Aptos"/>
              </a:rPr>
              <a:t>60 logits
10 products ×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92024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194560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1AB4D"/>
                </a:solidFill>
                <a:latin typeface="Aptos"/>
              </a:rPr>
              <a:t>QUANTITY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7860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01D33"/>
                </a:solidFill>
                <a:latin typeface="Aptos"/>
              </a:rPr>
              <a:t>0   1   2   3   4   5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624328"/>
            <a:ext cx="256032" cy="36576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58968" y="2624328"/>
            <a:ext cx="256032" cy="36576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2624328"/>
            <a:ext cx="256032" cy="36576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69080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D65E1"/>
                </a:solidFill>
                <a:latin typeface="Aptos"/>
              </a:rPr>
              <a:t>TRAINING NOTES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1010412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Zero labels dominate the data, making rare quantities difficult to learn.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001768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59"/>
            <a:ext cx="1010412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Saved checkpoint loads successfully: 10 catalogue products, 6 classes, 224-pixel input.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504688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440679"/>
            <a:ext cx="10104120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The application uses threshold-based outputs; the final test report uses argmax.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Application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A lightweight Streamlit workflow for demonstration and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4864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5486400" cy="43891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792224"/>
            <a:ext cx="91440" cy="91440"/>
          </a:xfrm>
          <a:prstGeom prst="ellipse">
            <a:avLst/>
          </a:prstGeom>
          <a:solidFill>
            <a:srgbClr val="DF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1288" y="1792224"/>
            <a:ext cx="91440" cy="91440"/>
          </a:xfrm>
          <a:prstGeom prst="ellipse">
            <a:avLst/>
          </a:prstGeom>
          <a:solidFill>
            <a:srgbClr val="F1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62456" y="1792224"/>
            <a:ext cx="91440" cy="91440"/>
          </a:xfrm>
          <a:prstGeom prst="ellipse">
            <a:avLst/>
          </a:prstGeom>
          <a:solidFill>
            <a:srgbClr val="23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783080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SMART BIN CLASSIFIER  / 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423160"/>
            <a:ext cx="2057400" cy="2057400"/>
          </a:xfrm>
          <a:prstGeom prst="roundRect">
            <a:avLst/>
          </a:prstGeom>
          <a:solidFill>
            <a:srgbClr val="F6F9FD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971800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5E1"/>
                </a:solidFill>
                <a:latin typeface="Aptos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83280"/>
            <a:ext cx="16916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8778D"/>
                </a:solidFill>
                <a:latin typeface="Aptos"/>
              </a:rPr>
              <a:t>Upload bin
photo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423160"/>
            <a:ext cx="251460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D65E1"/>
                </a:solidFill>
                <a:latin typeface="Aptos"/>
              </a:rPr>
              <a:t>PREDICTED QUANTITIES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92608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1D33"/>
                </a:solidFill>
                <a:latin typeface="Aptos"/>
              </a:rPr>
              <a:t>10 product estimates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611880"/>
            <a:ext cx="2514600" cy="868680"/>
          </a:xfrm>
          <a:prstGeom prst="roundRect">
            <a:avLst/>
          </a:prstGeom>
          <a:solidFill>
            <a:srgbClr val="E8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813048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39975"/>
                </a:solidFill>
                <a:latin typeface="Aptos"/>
              </a:rPr>
              <a:t>ORDER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096512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39975"/>
                </a:solidFill>
                <a:latin typeface="Aptos"/>
              </a:rPr>
              <a:t>PASS / FAIL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502920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956048"/>
            <a:ext cx="44805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Download results  •  Local validation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78308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D65E1"/>
                </a:solidFill>
                <a:latin typeface="Aptos"/>
              </a:rPr>
              <a:t>CORE CAPABILITIES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2258568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194560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Upload an image or choose a demo image.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880360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816352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View product-level quantity estimates.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3502151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438144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Compare predictions with requested order quantities.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4123944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059935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Handle empty orders and common no-data states in smoke testing.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745736"/>
            <a:ext cx="100584" cy="100584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681728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Export results where supported by the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Quantity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Held-out test split • 200 images • argmax prediction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2788920" cy="3246120"/>
          </a:xfrm>
          <a:prstGeom prst="roundRect">
            <a:avLst/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BBEBE"/>
                </a:solidFill>
                <a:latin typeface="Aptos"/>
              </a:rPr>
              <a:t>WHOLE-VECTOR EXACT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21945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21488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D2E0F0"/>
                </a:solidFill>
                <a:latin typeface="Aptos"/>
              </a:rPr>
              <a:t>All 10 product quantities matched exactly for 60% of test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78308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196596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D65E1"/>
                </a:solidFill>
                <a:latin typeface="Aptos"/>
              </a:rPr>
              <a:t>0.0565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51460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8778D"/>
                </a:solidFill>
                <a:latin typeface="Aptos"/>
              </a:rPr>
              <a:t>Overall quantity MAE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78308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196596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1AB4D"/>
                </a:solidFill>
                <a:latin typeface="Aptos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51460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8778D"/>
                </a:solidFill>
                <a:latin typeface="Aptos"/>
              </a:rPr>
              <a:t>Nonzero ground-truth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38328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7" y="356616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DF5C66"/>
                </a:solidFill>
                <a:latin typeface="Aptos"/>
              </a:rPr>
              <a:t>27.18%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7" y="411480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8778D"/>
                </a:solidFill>
                <a:latin typeface="Aptos"/>
              </a:rPr>
              <a:t>Exact accuracy on present entries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338328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356616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DF5C66"/>
                </a:solidFill>
                <a:latin typeface="Aptos"/>
              </a:rPr>
              <a:t>1.0000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4114800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8778D"/>
                </a:solidFill>
                <a:latin typeface="Aptos"/>
              </a:rPr>
              <a:t>MAE on present entries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5074920"/>
            <a:ext cx="6812280" cy="502920"/>
          </a:xfrm>
          <a:prstGeom prst="roundRect">
            <a:avLst/>
          </a:prstGeom>
          <a:solidFill>
            <a:srgbClr val="FF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5230368"/>
            <a:ext cx="6446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895B1B"/>
                </a:solidFill>
                <a:latin typeface="Aptos"/>
              </a:rPr>
              <a:t>Caution: overall MAE is dominated by zero-quantity entries.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Order validation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A separate, earlier synthetic-order evaluation reported in the project README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D65E1"/>
                </a:solidFill>
                <a:latin typeface="Aptos"/>
              </a:rPr>
              <a:t>400 SYNTHETIC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1D33"/>
                </a:solidFill>
                <a:latin typeface="Aptos"/>
              </a:rPr>
              <a:t>Overall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350008"/>
            <a:ext cx="5486400" cy="256032"/>
          </a:xfrm>
          <a:prstGeom prst="round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2350008"/>
            <a:ext cx="4347972" cy="256032"/>
          </a:xfrm>
          <a:prstGeom prst="round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2313432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D65E1"/>
                </a:solidFill>
                <a:latin typeface="Aptos"/>
              </a:rPr>
              <a:t>79.25%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79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1D33"/>
                </a:solidFill>
                <a:latin typeface="Aptos"/>
              </a:rPr>
              <a:t>Invalid orders incorrectly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3401568"/>
            <a:ext cx="5486400" cy="256032"/>
          </a:xfrm>
          <a:prstGeom prst="round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3364991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DF5C66"/>
                </a:solidFill>
                <a:latin typeface="Aptos"/>
              </a:rPr>
              <a:t>0 /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1D33"/>
                </a:solidFill>
                <a:latin typeface="Aptos"/>
              </a:rPr>
              <a:t>Valid orders incorrectly rejected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4453127"/>
            <a:ext cx="5486400" cy="256032"/>
          </a:xfrm>
          <a:prstGeom prst="round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9080" y="4453127"/>
            <a:ext cx="2276856" cy="256032"/>
          </a:xfrm>
          <a:prstGeom prst="roundRect">
            <a:avLst/>
          </a:prstGeom>
          <a:solidFill>
            <a:srgbClr val="F1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4416552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F1AB4D"/>
                </a:solidFill>
                <a:latin typeface="Aptos"/>
              </a:rPr>
              <a:t>41.50%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532120"/>
            <a:ext cx="10378440" cy="438912"/>
          </a:xfrm>
          <a:prstGeom prst="roundRect">
            <a:avLst/>
          </a:prstGeom>
          <a:solidFill>
            <a:srgbClr val="F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660136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F5C66"/>
                </a:solidFill>
                <a:latin typeface="Aptos"/>
              </a:rPr>
              <a:t>Important: these order-level results are not the same metric as the quantity model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82296" cy="438912"/>
          </a:xfrm>
          <a:prstGeom prst="rect">
            <a:avLst/>
          </a:prstGeom>
          <a:solidFill>
            <a:srgbClr val="2D6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1D33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77824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8778D"/>
                </a:solidFill>
                <a:latin typeface="Aptos"/>
              </a:rPr>
              <a:t>The most important work is improving reliability, not adding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44200" cy="10972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8778D"/>
                </a:solidFill>
                <a:latin typeface="Aptos"/>
              </a:rPr>
              <a:t>SMART BIN CLASSIFIER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D65E1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49834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64008" cy="3520440"/>
          </a:xfrm>
          <a:prstGeom prst="rect">
            <a:avLst/>
          </a:prstGeom>
          <a:solidFill>
            <a:srgbClr val="DF5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856232"/>
            <a:ext cx="4599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DF5C66"/>
                </a:solidFill>
                <a:latin typeface="Aptos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139696"/>
            <a:ext cx="4599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What results tell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459943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• Only 10 selected products
• Rare higher quantities are underrepresented
• Exact quantity estimation remains difficult
• False rejections can disrupt workflow
• Prototype is not production-validated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49834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64008" cy="3520440"/>
          </a:xfrm>
          <a:prstGeom prst="rect">
            <a:avLst/>
          </a:prstGeom>
          <a:solidFill>
            <a:srgbClr val="2B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56232"/>
            <a:ext cx="4599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BBEBE"/>
                </a:solidFill>
                <a:latin typeface="Aptos"/>
              </a:rPr>
              <a:t>NEXT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39696"/>
            <a:ext cx="4599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1D33"/>
                </a:solidFill>
                <a:latin typeface="Aptos"/>
              </a:rPr>
              <a:t>Recommended priorities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587752"/>
            <a:ext cx="459943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83549"/>
                </a:solidFill>
                <a:latin typeface="Aptos"/>
              </a:rPr>
              <a:t>01  Add more rare-product examples
02  Tune thresholds on validation data only
03  Report precision, recall and errors per ASIN
04  Improve uncertainty and review feedback
05  Test deployment and logging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1D33"/>
                </a:solidFill>
                <a:latin typeface="Aptos"/>
              </a:rPr>
              <a:t>Keep the test set held out: use validation data for model and threshold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BEBE"/>
                </a:solidFill>
                <a:latin typeface="Aptos"/>
              </a:rPr>
              <a:t>LOCAL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7772400" cy="475488"/>
          </a:xfrm>
          <a:prstGeom prst="roundRect">
            <a:avLst/>
          </a:prstGeom>
          <a:solidFill>
            <a:srgbClr val="1D2E49"/>
          </a:solidFill>
          <a:ln>
            <a:solidFill>
              <a:srgbClr val="38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44475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python -m venv .venv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39112"/>
            <a:ext cx="7772400" cy="475488"/>
          </a:xfrm>
          <a:prstGeom prst="roundRect">
            <a:avLst/>
          </a:prstGeom>
          <a:solidFill>
            <a:srgbClr val="1D2E49"/>
          </a:solidFill>
          <a:ln>
            <a:solidFill>
              <a:srgbClr val="38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157984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.\.venv\Scripts\Activate.ps1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52344"/>
            <a:ext cx="7772400" cy="475488"/>
          </a:xfrm>
          <a:prstGeom prst="roundRect">
            <a:avLst/>
          </a:prstGeom>
          <a:solidFill>
            <a:srgbClr val="1D2E49"/>
          </a:solidFill>
          <a:ln>
            <a:solidFill>
              <a:srgbClr val="38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71215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65576"/>
            <a:ext cx="7772400" cy="475488"/>
          </a:xfrm>
          <a:prstGeom prst="roundRect">
            <a:avLst/>
          </a:prstGeom>
          <a:solidFill>
            <a:srgbClr val="1D2E49"/>
          </a:solidFill>
          <a:ln>
            <a:solidFill>
              <a:srgbClr val="38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84448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python -m streamlit run app.py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17320"/>
            <a:ext cx="2148840" cy="3063240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783080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7BE2C7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423160"/>
            <a:ext cx="16916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Smart Bin
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703320"/>
            <a:ext cx="1691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BECFE4"/>
                </a:solidFill>
                <a:latin typeface="Aptos"/>
              </a:rPr>
              <a:t>Computer vision
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7680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ECFE4"/>
                </a:solidFill>
                <a:latin typeface="Aptos"/>
              </a:rPr>
              <a:t>Experimental prototype • Results should be interpreted with stated limitations.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B4C6D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Bin Classifier | Professional Project Presentation</dc:title>
  <dc:subject>Computer vision quantity estimation and order validation</dc:subject>
  <dc:creator>Smart Bin Classifier Project</dc:creator>
  <cp:keywords>ResNet-18, computer vision, PyTorch, Streamlit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